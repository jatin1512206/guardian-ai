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601200" cy="1645920"/>
          </a:xfrm>
          <a:prstGeom prst="rect">
            <a:avLst/>
          </a:prstGeom>
          <a:noFill/>
        </p:spPr>
        <p:txBody>
          <a:bodyPr wrap="square">
            <a:spAutoFit/>
          </a:bodyPr>
          <a:lstStyle/>
          <a:p>
            <a:r>
              <a:rPr sz="5600" b="1">
                <a:solidFill>
                  <a:srgbClr val="0F172A"/>
                </a:solidFill>
                <a:latin typeface="Arial"/>
              </a:rPr>
              <a:t>GUARDIAN-AI 🛡️</a:t>
            </a:r>
          </a:p>
          <a:p>
            <a:pPr>
              <a:spcBef>
                <a:spcPts val="1200"/>
              </a:spcBef>
            </a:pPr>
            <a:r>
              <a:rPr sz="2200" b="1">
                <a:solidFill>
                  <a:srgbClr val="0E7490"/>
                </a:solidFill>
                <a:latin typeface="Arial"/>
              </a:rPr>
              <a:t>Edge-Computer Vision &amp; Asynchronous Multi-Agent Safety Dashboard</a:t>
            </a:r>
          </a:p>
        </p:txBody>
      </p:sp>
      <p:sp>
        <p:nvSpPr>
          <p:cNvPr id="4" name="TextBox 3"/>
          <p:cNvSpPr txBox="1"/>
          <p:nvPr/>
        </p:nvSpPr>
        <p:spPr>
          <a:xfrm>
            <a:off x="1371600" y="4754880"/>
            <a:ext cx="9601200" cy="1097280"/>
          </a:xfrm>
          <a:prstGeom prst="rect">
            <a:avLst/>
          </a:prstGeom>
          <a:noFill/>
        </p:spPr>
        <p:txBody>
          <a:bodyPr wrap="square">
            <a:spAutoFit/>
          </a:bodyPr>
          <a:lstStyle/>
          <a:p>
            <a:r>
              <a:rPr sz="1400" b="1">
                <a:solidFill>
                  <a:srgbClr val="334155"/>
                </a:solidFill>
                <a:latin typeface="Arial"/>
              </a:rPr>
              <a:t>Submission Proposal: Hack2Skill Data &amp; AI Challenge
</a:t>
            </a:r>
            <a:r>
              <a:rPr sz="1300">
                <a:solidFill>
                  <a:srgbClr val="0E7490"/>
                </a:solidFill>
                <a:latin typeface="Arial"/>
              </a:rPr>
              <a:t>Developer &amp; Architect: Jatin Rajpoot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094415" cy="640080"/>
          </a:xfrm>
          <a:prstGeom prst="rect">
            <a:avLst/>
          </a:prstGeom>
          <a:noFill/>
        </p:spPr>
        <p:txBody>
          <a:bodyPr wrap="square">
            <a:spAutoFit/>
          </a:bodyPr>
          <a:lstStyle/>
          <a:p>
            <a:r>
              <a:rPr sz="2800" b="1">
                <a:solidFill>
                  <a:srgbClr val="FFFFFF"/>
                </a:solidFill>
                <a:latin typeface="Arial"/>
              </a:rPr>
              <a:t>The Problem: Cognitive Distractions &amp; Road Hazards</a:t>
            </a:r>
          </a:p>
        </p:txBody>
      </p:sp>
      <p:sp>
        <p:nvSpPr>
          <p:cNvPr id="4" name="TextBox 3"/>
          <p:cNvSpPr txBox="1"/>
          <p:nvPr/>
        </p:nvSpPr>
        <p:spPr>
          <a:xfrm>
            <a:off x="731520" y="1463040"/>
            <a:ext cx="10698480" cy="4572000"/>
          </a:xfrm>
          <a:prstGeom prst="rect">
            <a:avLst/>
          </a:prstGeom>
          <a:noFill/>
        </p:spPr>
        <p:txBody>
          <a:bodyPr wrap="square">
            <a:spAutoFit/>
          </a:bodyPr>
          <a:lstStyle/>
          <a:p>
            <a:pPr>
              <a:spcAft>
                <a:spcPts val="1000"/>
              </a:spcAft>
            </a:pPr>
            <a:r>
              <a:rPr sz="2000" b="1">
                <a:solidFill>
                  <a:srgbClr val="0E7490"/>
                </a:solidFill>
                <a:latin typeface="Arial"/>
              </a:rPr>
              <a:t>Critical Driver Safety Gaps:</a:t>
            </a:r>
          </a:p>
          <a:p>
            <a:pPr>
              <a:spcAft>
                <a:spcPts val="2000"/>
              </a:spcAft>
            </a:pPr>
            <a:r>
              <a:rPr sz="1500">
                <a:solidFill>
                  <a:srgbClr val="334155"/>
                </a:solidFill>
                <a:latin typeface="Arial"/>
              </a:rPr>
              <a:t>Over 1.3 million global vehicular deaths occur annually due to human error, driver fatigue, and phone distractions. Current dashboard recorders act as passive blackboxes, lacking the intelligence to predict accidents and alert drivers before impact.</a:t>
            </a:r>
          </a:p>
          <a:p>
            <a:pPr>
              <a:spcBef>
                <a:spcPts val="800"/>
              </a:spcBef>
            </a:pPr>
            <a:r>
              <a:rPr sz="1500" b="1">
                <a:solidFill>
                  <a:srgbClr val="0E7490"/>
                </a:solidFill>
                <a:latin typeface="Arial"/>
              </a:rPr>
              <a:t>•  Driver Fatigue &amp; Micro-sleeps: </a:t>
            </a:r>
            <a:r>
              <a:rPr sz="1400">
                <a:solidFill>
                  <a:srgbClr val="334155"/>
                </a:solidFill>
                <a:latin typeface="Arial"/>
              </a:rPr>
              <a:t>Split-second closures of eyes lead directly to road departures and high-speed crashes before drivers realize they are tired.</a:t>
            </a:r>
          </a:p>
          <a:p>
            <a:pPr>
              <a:spcBef>
                <a:spcPts val="800"/>
              </a:spcBef>
            </a:pPr>
            <a:r>
              <a:rPr sz="1500" b="1">
                <a:solidFill>
                  <a:srgbClr val="0E7490"/>
                </a:solidFill>
                <a:latin typeface="Arial"/>
              </a:rPr>
              <a:t>•  Visual Distractions (Smartphone Usage): </a:t>
            </a:r>
            <a:r>
              <a:rPr sz="1400">
                <a:solidFill>
                  <a:srgbClr val="334155"/>
                </a:solidFill>
                <a:latin typeface="Arial"/>
              </a:rPr>
              <a:t>Taking hands off the wheel or shifting eye gaze to screens dramatically increases stopping distance.</a:t>
            </a:r>
          </a:p>
          <a:p>
            <a:pPr>
              <a:spcBef>
                <a:spcPts val="800"/>
              </a:spcBef>
            </a:pPr>
            <a:r>
              <a:rPr sz="1500" b="1">
                <a:solidFill>
                  <a:srgbClr val="0E7490"/>
                </a:solidFill>
                <a:latin typeface="Arial"/>
              </a:rPr>
              <a:t>•  Passive Dashcam Monitoring: </a:t>
            </a:r>
            <a:r>
              <a:rPr sz="1400">
                <a:solidFill>
                  <a:srgbClr val="334155"/>
                </a:solidFill>
                <a:latin typeface="Arial"/>
              </a:rPr>
              <a:t>Traditional dashcams lack edge computer vision to compute real-time risks and alert drivers actively.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094415" cy="640080"/>
          </a:xfrm>
          <a:prstGeom prst="rect">
            <a:avLst/>
          </a:prstGeom>
          <a:noFill/>
        </p:spPr>
        <p:txBody>
          <a:bodyPr wrap="square">
            <a:spAutoFit/>
          </a:bodyPr>
          <a:lstStyle/>
          <a:p>
            <a:r>
              <a:rPr sz="2800" b="1">
                <a:solidFill>
                  <a:srgbClr val="FFFFFF"/>
                </a:solidFill>
                <a:latin typeface="Arial"/>
              </a:rPr>
              <a:t>Executive Summary: The GuardianAI Vision</a:t>
            </a:r>
          </a:p>
        </p:txBody>
      </p:sp>
      <p:sp>
        <p:nvSpPr>
          <p:cNvPr id="4" name="TextBox 3"/>
          <p:cNvSpPr txBox="1"/>
          <p:nvPr/>
        </p:nvSpPr>
        <p:spPr>
          <a:xfrm>
            <a:off x="731520" y="1463040"/>
            <a:ext cx="10698480" cy="4572000"/>
          </a:xfrm>
          <a:prstGeom prst="rect">
            <a:avLst/>
          </a:prstGeom>
          <a:noFill/>
        </p:spPr>
        <p:txBody>
          <a:bodyPr wrap="square">
            <a:spAutoFit/>
          </a:bodyPr>
          <a:lstStyle/>
          <a:p>
            <a:pPr>
              <a:spcAft>
                <a:spcPts val="1000"/>
              </a:spcAft>
            </a:pPr>
            <a:r>
              <a:rPr sz="2000" b="1">
                <a:solidFill>
                  <a:srgbClr val="0E7490"/>
                </a:solidFill>
                <a:latin typeface="Arial"/>
              </a:rPr>
              <a:t>Proactive Driver Safety Co-Pilot:</a:t>
            </a:r>
          </a:p>
          <a:p>
            <a:pPr>
              <a:spcAft>
                <a:spcPts val="2000"/>
              </a:spcAft>
            </a:pPr>
            <a:r>
              <a:rPr sz="1500">
                <a:solidFill>
                  <a:srgbClr val="334155"/>
                </a:solidFill>
                <a:latin typeface="Arial"/>
              </a:rPr>
              <a:t>GuardianAI bridges the critical gap between video capturing and physical accident prevention. By using lightweight edge computer vision in the browser and asynchronous multi-agent models in the backend, it acts as a proactive safety co-pilot.</a:t>
            </a:r>
          </a:p>
          <a:p>
            <a:pPr>
              <a:spcBef>
                <a:spcPts val="800"/>
              </a:spcBef>
            </a:pPr>
            <a:r>
              <a:rPr sz="1500" b="1">
                <a:solidFill>
                  <a:srgbClr val="0E7490"/>
                </a:solidFill>
                <a:latin typeface="Arial"/>
              </a:rPr>
              <a:t>•  Attentiveness Indexing: </a:t>
            </a:r>
            <a:r>
              <a:rPr sz="1400">
                <a:solidFill>
                  <a:srgbClr val="334155"/>
                </a:solidFill>
                <a:latin typeface="Arial"/>
              </a:rPr>
              <a:t>Continuously scores driver focus from 0 to 100 based on blink frequency, head angles, and yaw deviation.</a:t>
            </a:r>
          </a:p>
          <a:p>
            <a:pPr>
              <a:spcBef>
                <a:spcPts val="800"/>
              </a:spcBef>
            </a:pPr>
            <a:r>
              <a:rPr sz="1500" b="1">
                <a:solidFill>
                  <a:srgbClr val="0E7490"/>
                </a:solidFill>
                <a:latin typeface="Arial"/>
              </a:rPr>
              <a:t>•  Asynchronous Telemetry: </a:t>
            </a:r>
            <a:r>
              <a:rPr sz="1400">
                <a:solidFill>
                  <a:srgbClr val="334155"/>
                </a:solidFill>
                <a:latin typeface="Arial"/>
              </a:rPr>
              <a:t>Combines driver posture with live steering and braking loops to calculate stability.</a:t>
            </a:r>
          </a:p>
          <a:p>
            <a:pPr>
              <a:spcBef>
                <a:spcPts val="800"/>
              </a:spcBef>
            </a:pPr>
            <a:r>
              <a:rPr sz="1500" b="1">
                <a:solidFill>
                  <a:srgbClr val="0E7490"/>
                </a:solidFill>
                <a:latin typeface="Arial"/>
              </a:rPr>
              <a:t>•  Collision Forecasting: </a:t>
            </a:r>
            <a:r>
              <a:rPr sz="1400">
                <a:solidFill>
                  <a:srgbClr val="334155"/>
                </a:solidFill>
                <a:latin typeface="Arial"/>
              </a:rPr>
              <a:t>Projects trajectory risk 3-5 seconds before impact, giving drivers enough time to take corrective 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094415" cy="640080"/>
          </a:xfrm>
          <a:prstGeom prst="rect">
            <a:avLst/>
          </a:prstGeom>
          <a:noFill/>
        </p:spPr>
        <p:txBody>
          <a:bodyPr wrap="square">
            <a:spAutoFit/>
          </a:bodyPr>
          <a:lstStyle/>
          <a:p>
            <a:r>
              <a:rPr sz="2800" b="1">
                <a:solidFill>
                  <a:srgbClr val="FFFFFF"/>
                </a:solidFill>
                <a:latin typeface="Arial"/>
              </a:rPr>
              <a:t>System Architecture: 4 Collaborating AI Agents</a:t>
            </a:r>
          </a:p>
        </p:txBody>
      </p:sp>
      <p:sp>
        <p:nvSpPr>
          <p:cNvPr id="4" name="Rectangle 3"/>
          <p:cNvSpPr/>
          <p:nvPr/>
        </p:nvSpPr>
        <p:spPr>
          <a:xfrm>
            <a:off x="548640" y="1645920"/>
            <a:ext cx="2651760" cy="4297680"/>
          </a:xfrm>
          <a:prstGeom prst="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28800"/>
            <a:ext cx="2377440" cy="3931920"/>
          </a:xfrm>
          <a:prstGeom prst="rect">
            <a:avLst/>
          </a:prstGeom>
          <a:noFill/>
        </p:spPr>
        <p:txBody>
          <a:bodyPr wrap="square">
            <a:spAutoFit/>
          </a:bodyPr>
          <a:lstStyle/>
          <a:p>
            <a:pPr>
              <a:spcAft>
                <a:spcPts val="1500"/>
              </a:spcAft>
            </a:pPr>
            <a:r>
              <a:rPr sz="1800" b="1">
                <a:solidFill>
                  <a:srgbClr val="0E7490"/>
                </a:solidFill>
                <a:latin typeface="Arial"/>
              </a:rPr>
              <a:t>🛡️ Driver Agent</a:t>
            </a:r>
          </a:p>
          <a:p>
            <a:pPr>
              <a:spcBef>
                <a:spcPts val="1000"/>
              </a:spcBef>
            </a:pPr>
            <a:r>
              <a:rPr sz="1300">
                <a:solidFill>
                  <a:srgbClr val="334155"/>
                </a:solidFill>
                <a:latin typeface="Arial"/>
              </a:rPr>
              <a:t>Monitors face yaw, pitch, blink rate (EAR), and smartphone phone call postures.</a:t>
            </a:r>
          </a:p>
        </p:txBody>
      </p:sp>
      <p:sp>
        <p:nvSpPr>
          <p:cNvPr id="6" name="Rectangle 5"/>
          <p:cNvSpPr/>
          <p:nvPr/>
        </p:nvSpPr>
        <p:spPr>
          <a:xfrm>
            <a:off x="3337560" y="1645920"/>
            <a:ext cx="2651760" cy="4297680"/>
          </a:xfrm>
          <a:prstGeom prst="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0" y="1828800"/>
            <a:ext cx="2377440" cy="3931920"/>
          </a:xfrm>
          <a:prstGeom prst="rect">
            <a:avLst/>
          </a:prstGeom>
          <a:noFill/>
        </p:spPr>
        <p:txBody>
          <a:bodyPr wrap="square">
            <a:spAutoFit/>
          </a:bodyPr>
          <a:lstStyle/>
          <a:p>
            <a:pPr>
              <a:spcAft>
                <a:spcPts val="1500"/>
              </a:spcAft>
            </a:pPr>
            <a:r>
              <a:rPr sz="1800" b="1">
                <a:solidFill>
                  <a:srgbClr val="0F172A"/>
                </a:solidFill>
                <a:latin typeface="Arial"/>
              </a:rPr>
              <a:t>🚗 Vehicle Agent</a:t>
            </a:r>
          </a:p>
          <a:p>
            <a:pPr>
              <a:spcBef>
                <a:spcPts val="1000"/>
              </a:spcBef>
            </a:pPr>
            <a:r>
              <a:rPr sz="1300">
                <a:solidFill>
                  <a:srgbClr val="334155"/>
                </a:solidFill>
                <a:latin typeface="Arial"/>
              </a:rPr>
              <a:t>Tracks speed, steering angle deviations, and road lane alignment values.</a:t>
            </a:r>
          </a:p>
        </p:txBody>
      </p:sp>
      <p:sp>
        <p:nvSpPr>
          <p:cNvPr id="8" name="Rectangle 7"/>
          <p:cNvSpPr/>
          <p:nvPr/>
        </p:nvSpPr>
        <p:spPr>
          <a:xfrm>
            <a:off x="6126479" y="1645920"/>
            <a:ext cx="2651760" cy="4297680"/>
          </a:xfrm>
          <a:prstGeom prst="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39" y="1828800"/>
            <a:ext cx="2377440" cy="3931920"/>
          </a:xfrm>
          <a:prstGeom prst="rect">
            <a:avLst/>
          </a:prstGeom>
          <a:noFill/>
        </p:spPr>
        <p:txBody>
          <a:bodyPr wrap="square">
            <a:spAutoFit/>
          </a:bodyPr>
          <a:lstStyle/>
          <a:p>
            <a:pPr>
              <a:spcAft>
                <a:spcPts val="1500"/>
              </a:spcAft>
            </a:pPr>
            <a:r>
              <a:rPr sz="1800" b="1">
                <a:solidFill>
                  <a:srgbClr val="0E7490"/>
                </a:solidFill>
                <a:latin typeface="Arial"/>
              </a:rPr>
              <a:t>🔮 Prediction Agent</a:t>
            </a:r>
          </a:p>
          <a:p>
            <a:pPr>
              <a:spcBef>
                <a:spcPts val="1000"/>
              </a:spcBef>
            </a:pPr>
            <a:r>
              <a:rPr sz="1300">
                <a:solidFill>
                  <a:srgbClr val="334155"/>
                </a:solidFill>
                <a:latin typeface="Arial"/>
              </a:rPr>
              <a:t>Fuses driver and vehicle features to forecast accident probability and type.</a:t>
            </a:r>
          </a:p>
        </p:txBody>
      </p:sp>
      <p:sp>
        <p:nvSpPr>
          <p:cNvPr id="10" name="Rectangle 9"/>
          <p:cNvSpPr/>
          <p:nvPr/>
        </p:nvSpPr>
        <p:spPr>
          <a:xfrm>
            <a:off x="8915399" y="1645920"/>
            <a:ext cx="2651760" cy="4297680"/>
          </a:xfrm>
          <a:prstGeom prst="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59" y="1828800"/>
            <a:ext cx="2377440" cy="3931920"/>
          </a:xfrm>
          <a:prstGeom prst="rect">
            <a:avLst/>
          </a:prstGeom>
          <a:noFill/>
        </p:spPr>
        <p:txBody>
          <a:bodyPr wrap="square">
            <a:spAutoFit/>
          </a:bodyPr>
          <a:lstStyle/>
          <a:p>
            <a:pPr>
              <a:spcAft>
                <a:spcPts val="1500"/>
              </a:spcAft>
            </a:pPr>
            <a:r>
              <a:rPr sz="1800" b="1">
                <a:solidFill>
                  <a:srgbClr val="0F172A"/>
                </a:solidFill>
                <a:latin typeface="Arial"/>
              </a:rPr>
              <a:t>🚨 Intervention Agent</a:t>
            </a:r>
          </a:p>
          <a:p>
            <a:pPr>
              <a:spcBef>
                <a:spcPts val="1000"/>
              </a:spcBef>
            </a:pPr>
            <a:r>
              <a:rPr sz="1300">
                <a:solidFill>
                  <a:srgbClr val="334155"/>
                </a:solidFill>
                <a:latin typeface="Arial"/>
              </a:rPr>
              <a:t>Escalates warnings (alarms, automatic deceleration instructions) to prevent crashes.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094415" cy="640080"/>
          </a:xfrm>
          <a:prstGeom prst="rect">
            <a:avLst/>
          </a:prstGeom>
          <a:noFill/>
        </p:spPr>
        <p:txBody>
          <a:bodyPr wrap="square">
            <a:spAutoFit/>
          </a:bodyPr>
          <a:lstStyle/>
          <a:p>
            <a:r>
              <a:rPr sz="2800" b="1">
                <a:solidFill>
                  <a:srgbClr val="FFFFFF"/>
                </a:solidFill>
                <a:latin typeface="Arial"/>
              </a:rPr>
              <a:t>Client-Side Edge AI: MediaPipe Holistic CV</a:t>
            </a:r>
          </a:p>
        </p:txBody>
      </p:sp>
      <p:sp>
        <p:nvSpPr>
          <p:cNvPr id="4" name="TextBox 3"/>
          <p:cNvSpPr txBox="1"/>
          <p:nvPr/>
        </p:nvSpPr>
        <p:spPr>
          <a:xfrm>
            <a:off x="731520" y="1463040"/>
            <a:ext cx="10698480" cy="4572000"/>
          </a:xfrm>
          <a:prstGeom prst="rect">
            <a:avLst/>
          </a:prstGeom>
          <a:noFill/>
        </p:spPr>
        <p:txBody>
          <a:bodyPr wrap="square">
            <a:spAutoFit/>
          </a:bodyPr>
          <a:lstStyle/>
          <a:p/>
          <a:p>
            <a:pPr>
              <a:spcBef>
                <a:spcPts val="1200"/>
              </a:spcBef>
            </a:pPr>
            <a:r>
              <a:rPr sz="1600" b="1">
                <a:solidFill>
                  <a:srgbClr val="0E7490"/>
                </a:solidFill>
                <a:latin typeface="Arial"/>
              </a:rPr>
              <a:t>✔  Yaw &amp; Pitch angle estimation: </a:t>
            </a:r>
          </a:p>
          <a:p>
            <a:pPr>
              <a:spcBef>
                <a:spcPts val="200"/>
              </a:spcBef>
              <a:spcAft>
                <a:spcPts val="800"/>
              </a:spcAft>
            </a:pPr>
            <a:r>
              <a:rPr sz="1400">
                <a:solidFill>
                  <a:srgbClr val="334155"/>
                </a:solidFill>
                <a:latin typeface="Arial"/>
              </a:rPr>
              <a:t>Uses scale-invariant nose-tip to eye ratios to catch left/right turns and up/down nodding.</a:t>
            </a:r>
          </a:p>
          <a:p>
            <a:pPr>
              <a:spcBef>
                <a:spcPts val="1200"/>
              </a:spcBef>
            </a:pPr>
            <a:r>
              <a:rPr sz="1600" b="1">
                <a:solidFill>
                  <a:srgbClr val="0E7490"/>
                </a:solidFill>
                <a:latin typeface="Arial"/>
              </a:rPr>
              <a:t>✔  Dual-Cheek proximity detection: </a:t>
            </a:r>
          </a:p>
          <a:p>
            <a:pPr>
              <a:spcBef>
                <a:spcPts val="200"/>
              </a:spcBef>
              <a:spcAft>
                <a:spcPts val="800"/>
              </a:spcAft>
            </a:pPr>
            <a:r>
              <a:rPr sz="1400">
                <a:solidFill>
                  <a:srgbClr val="334155"/>
                </a:solidFill>
                <a:latin typeface="Arial"/>
              </a:rPr>
              <a:t>Checks wrist and finger landmarks to detect phone usage at either ear.</a:t>
            </a:r>
          </a:p>
          <a:p>
            <a:pPr>
              <a:spcBef>
                <a:spcPts val="1200"/>
              </a:spcBef>
            </a:pPr>
            <a:r>
              <a:rPr sz="1600" b="1">
                <a:solidFill>
                  <a:srgbClr val="0E7490"/>
                </a:solidFill>
                <a:latin typeface="Arial"/>
              </a:rPr>
              <a:t>✔  Zero Server GPU Cost: </a:t>
            </a:r>
          </a:p>
          <a:p>
            <a:pPr>
              <a:spcBef>
                <a:spcPts val="200"/>
              </a:spcBef>
              <a:spcAft>
                <a:spcPts val="800"/>
              </a:spcAft>
            </a:pPr>
            <a:r>
              <a:rPr sz="1400">
                <a:solidFill>
                  <a:srgbClr val="334155"/>
                </a:solidFill>
                <a:latin typeface="Arial"/>
              </a:rPr>
              <a:t>Processing frames locally reduces backend workload and solves bandwidth constraints.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094415" cy="640080"/>
          </a:xfrm>
          <a:prstGeom prst="rect">
            <a:avLst/>
          </a:prstGeom>
          <a:noFill/>
        </p:spPr>
        <p:txBody>
          <a:bodyPr wrap="square">
            <a:spAutoFit/>
          </a:bodyPr>
          <a:lstStyle/>
          <a:p>
            <a:r>
              <a:rPr sz="2800" b="1">
                <a:solidFill>
                  <a:srgbClr val="FFFFFF"/>
                </a:solidFill>
                <a:latin typeface="Arial"/>
              </a:rPr>
              <a:t>Backend Intelligence: PyTorch Neural Networks</a:t>
            </a:r>
          </a:p>
        </p:txBody>
      </p:sp>
      <p:sp>
        <p:nvSpPr>
          <p:cNvPr id="4" name="TextBox 3"/>
          <p:cNvSpPr txBox="1"/>
          <p:nvPr/>
        </p:nvSpPr>
        <p:spPr>
          <a:xfrm>
            <a:off x="731520" y="1463040"/>
            <a:ext cx="10698480" cy="4572000"/>
          </a:xfrm>
          <a:prstGeom prst="rect">
            <a:avLst/>
          </a:prstGeom>
          <a:noFill/>
        </p:spPr>
        <p:txBody>
          <a:bodyPr wrap="square">
            <a:spAutoFit/>
          </a:bodyPr>
          <a:lstStyle/>
          <a:p>
            <a:pPr>
              <a:spcAft>
                <a:spcPts val="800"/>
              </a:spcAft>
            </a:pPr>
            <a:r>
              <a:rPr sz="1600" b="1">
                <a:solidFill>
                  <a:srgbClr val="0F172A"/>
                </a:solidFill>
                <a:latin typeface="Arial"/>
              </a:rPr>
              <a:t>1. Active PyTorch Neural Network Weights:</a:t>
            </a:r>
          </a:p>
          <a:p>
            <a:pPr>
              <a:spcAft>
                <a:spcPts val="200"/>
              </a:spcAft>
            </a:pPr>
            <a:r>
              <a:rPr sz="1400">
                <a:solidFill>
                  <a:srgbClr val="334155"/>
                </a:solidFill>
                <a:latin typeface="Arial"/>
              </a:rPr>
              <a:t>  - Driver Monitor (MobileNetV2 CNN Classifier)  --&gt;  </a:t>
            </a:r>
            <a:r>
              <a:rPr sz="1400" b="1">
                <a:solidFill>
                  <a:srgbClr val="0E7490"/>
                </a:solidFill>
                <a:latin typeface="Arial"/>
              </a:rPr>
              <a:t>driver_monitor.pt</a:t>
            </a:r>
          </a:p>
          <a:p>
            <a:pPr>
              <a:spcAft>
                <a:spcPts val="200"/>
              </a:spcAft>
            </a:pPr>
            <a:r>
              <a:rPr sz="1400">
                <a:solidFill>
                  <a:srgbClr val="334155"/>
                </a:solidFill>
                <a:latin typeface="Arial"/>
              </a:rPr>
              <a:t>  - Vehicle Dynamics (Bi-GRU with Attention)  --&gt;  </a:t>
            </a:r>
            <a:r>
              <a:rPr sz="1400" b="1">
                <a:solidFill>
                  <a:srgbClr val="0E7490"/>
                </a:solidFill>
                <a:latin typeface="Arial"/>
              </a:rPr>
              <a:t>vehicle_behavior.pt</a:t>
            </a:r>
          </a:p>
          <a:p>
            <a:pPr>
              <a:spcAft>
                <a:spcPts val="200"/>
              </a:spcAft>
            </a:pPr>
            <a:r>
              <a:rPr sz="1400">
                <a:solidFill>
                  <a:srgbClr val="334155"/>
                </a:solidFill>
                <a:latin typeface="Arial"/>
              </a:rPr>
              <a:t>  - Sensor Fusion (Transformer Cross-Attention)  --&gt;  </a:t>
            </a:r>
            <a:r>
              <a:rPr sz="1400" b="1">
                <a:solidFill>
                  <a:srgbClr val="0E7490"/>
                </a:solidFill>
                <a:latin typeface="Arial"/>
              </a:rPr>
              <a:t>sensor_fusion.pt</a:t>
            </a:r>
          </a:p>
          <a:p>
            <a:pPr>
              <a:spcAft>
                <a:spcPts val="200"/>
              </a:spcAft>
            </a:pPr>
            <a:r>
              <a:rPr sz="1400">
                <a:solidFill>
                  <a:srgbClr val="334155"/>
                </a:solidFill>
                <a:latin typeface="Arial"/>
              </a:rPr>
              <a:t>  - Accident Predictor (LSTM Sequence Forecaster)  --&gt;  </a:t>
            </a:r>
            <a:r>
              <a:rPr sz="1400" b="1">
                <a:solidFill>
                  <a:srgbClr val="0E7490"/>
                </a:solidFill>
                <a:latin typeface="Arial"/>
              </a:rPr>
              <a:t>accident_predictor.pt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094415" cy="640080"/>
          </a:xfrm>
          <a:prstGeom prst="rect">
            <a:avLst/>
          </a:prstGeom>
          <a:noFill/>
        </p:spPr>
        <p:txBody>
          <a:bodyPr wrap="square">
            <a:spAutoFit/>
          </a:bodyPr>
          <a:lstStyle/>
          <a:p>
            <a:r>
              <a:rPr sz="2800" b="1">
                <a:solidFill>
                  <a:srgbClr val="FFFFFF"/>
                </a:solidFill>
                <a:latin typeface="Arial"/>
              </a:rPr>
              <a:t>Intervention Agent Escalation Ladder</a:t>
            </a:r>
          </a:p>
        </p:txBody>
      </p:sp>
      <p:sp>
        <p:nvSpPr>
          <p:cNvPr id="4" name="TextBox 3"/>
          <p:cNvSpPr txBox="1"/>
          <p:nvPr/>
        </p:nvSpPr>
        <p:spPr>
          <a:xfrm>
            <a:off x="731520" y="1463040"/>
            <a:ext cx="10698480" cy="4572000"/>
          </a:xfrm>
          <a:prstGeom prst="rect">
            <a:avLst/>
          </a:prstGeom>
          <a:noFill/>
        </p:spPr>
        <p:txBody>
          <a:bodyPr wrap="square">
            <a:spAutoFit/>
          </a:bodyPr>
          <a:lstStyle/>
          <a:p>
            <a:pPr>
              <a:spcAft>
                <a:spcPts val="800"/>
              </a:spcAft>
            </a:pPr>
            <a:r>
              <a:rPr sz="1600" b="1">
                <a:solidFill>
                  <a:srgbClr val="0F172A"/>
                </a:solidFill>
                <a:latin typeface="Arial"/>
              </a:rPr>
              <a:t>Mapping Risk Scores to System Interventions:</a:t>
            </a:r>
          </a:p>
          <a:p>
            <a:pPr>
              <a:spcBef>
                <a:spcPts val="800"/>
              </a:spcBef>
            </a:pPr>
            <a:r>
              <a:rPr sz="1500" b="1">
                <a:solidFill>
                  <a:srgbClr val="0E7490"/>
                </a:solidFill>
                <a:latin typeface="Arial"/>
              </a:rPr>
              <a:t>•  0 - 25% (LOW): </a:t>
            </a:r>
            <a:r>
              <a:rPr sz="1400">
                <a:solidFill>
                  <a:srgbClr val="334155"/>
                </a:solidFill>
                <a:latin typeface="Arial"/>
              </a:rPr>
              <a:t>Normal operations, background monitoring active.</a:t>
            </a:r>
          </a:p>
          <a:p>
            <a:pPr>
              <a:spcBef>
                <a:spcPts val="800"/>
              </a:spcBef>
            </a:pPr>
            <a:r>
              <a:rPr sz="1500" b="1">
                <a:solidFill>
                  <a:srgbClr val="0E7490"/>
                </a:solidFill>
                <a:latin typeface="Arial"/>
              </a:rPr>
              <a:t>•  25 - 50% (MEDIUM): </a:t>
            </a:r>
            <a:r>
              <a:rPr sz="1400">
                <a:solidFill>
                  <a:srgbClr val="334155"/>
                </a:solidFill>
                <a:latin typeface="Arial"/>
              </a:rPr>
              <a:t>Caution advisory tips played on screen, voice guidance starts.</a:t>
            </a:r>
          </a:p>
          <a:p>
            <a:pPr>
              <a:spcBef>
                <a:spcPts val="800"/>
              </a:spcBef>
            </a:pPr>
            <a:r>
              <a:rPr sz="1500" b="1">
                <a:solidFill>
                  <a:srgbClr val="0E7490"/>
                </a:solidFill>
                <a:latin typeface="Arial"/>
              </a:rPr>
              <a:t>•  50 - 75% (HIGH): </a:t>
            </a:r>
            <a:r>
              <a:rPr sz="1400">
                <a:solidFill>
                  <a:srgbClr val="334155"/>
                </a:solidFill>
                <a:latin typeface="Arial"/>
              </a:rPr>
              <a:t>Warning wailing sirens sound, lane alignment advisory active.</a:t>
            </a:r>
          </a:p>
          <a:p>
            <a:pPr>
              <a:spcBef>
                <a:spcPts val="800"/>
              </a:spcBef>
            </a:pPr>
            <a:r>
              <a:rPr sz="1500" b="1">
                <a:solidFill>
                  <a:srgbClr val="0E7490"/>
                </a:solidFill>
                <a:latin typeface="Arial"/>
              </a:rPr>
              <a:t>•  75 - 100% (CRITICAL): </a:t>
            </a:r>
            <a:r>
              <a:rPr sz="1400">
                <a:solidFill>
                  <a:srgbClr val="334155"/>
                </a:solidFill>
                <a:latin typeface="Arial"/>
              </a:rPr>
              <a:t>High-pitched siren sounded, automatic deceleration instruction sent.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094415" cy="640080"/>
          </a:xfrm>
          <a:prstGeom prst="rect">
            <a:avLst/>
          </a:prstGeom>
          <a:noFill/>
        </p:spPr>
        <p:txBody>
          <a:bodyPr wrap="square">
            <a:spAutoFit/>
          </a:bodyPr>
          <a:lstStyle/>
          <a:p>
            <a:r>
              <a:rPr sz="2800" b="1">
                <a:solidFill>
                  <a:srgbClr val="FFFFFF"/>
                </a:solidFill>
                <a:latin typeface="Arial"/>
              </a:rPr>
              <a:t>Interactive Cockpit Sliders &amp; DOM Optimization</a:t>
            </a:r>
          </a:p>
        </p:txBody>
      </p:sp>
      <p:sp>
        <p:nvSpPr>
          <p:cNvPr id="4" name="TextBox 3"/>
          <p:cNvSpPr txBox="1"/>
          <p:nvPr/>
        </p:nvSpPr>
        <p:spPr>
          <a:xfrm>
            <a:off x="731520" y="1463040"/>
            <a:ext cx="10698480" cy="4572000"/>
          </a:xfrm>
          <a:prstGeom prst="rect">
            <a:avLst/>
          </a:prstGeom>
          <a:noFill/>
        </p:spPr>
        <p:txBody>
          <a:bodyPr wrap="square">
            <a:spAutoFit/>
          </a:bodyPr>
          <a:lstStyle/>
          <a:p/>
          <a:p>
            <a:pPr>
              <a:spcBef>
                <a:spcPts val="1200"/>
              </a:spcBef>
            </a:pPr>
            <a:r>
              <a:rPr sz="1600" b="1">
                <a:solidFill>
                  <a:srgbClr val="0E7490"/>
                </a:solidFill>
                <a:latin typeface="Arial"/>
              </a:rPr>
              <a:t>✔  Telemetry Override sliders: </a:t>
            </a:r>
          </a:p>
          <a:p>
            <a:pPr>
              <a:spcBef>
                <a:spcPts val="200"/>
              </a:spcBef>
              <a:spcAft>
                <a:spcPts val="800"/>
              </a:spcAft>
            </a:pPr>
            <a:r>
              <a:rPr sz="1400">
                <a:solidFill>
                  <a:srgbClr val="334155"/>
                </a:solidFill>
                <a:latin typeface="Arial"/>
              </a:rPr>
              <a:t>Control speed, steering angle, and lane alignment variables directly in the dashboard UI to simulate emergency risk conditions.</a:t>
            </a:r>
          </a:p>
          <a:p>
            <a:pPr>
              <a:spcBef>
                <a:spcPts val="1200"/>
              </a:spcBef>
            </a:pPr>
            <a:r>
              <a:rPr sz="1600" b="1">
                <a:solidFill>
                  <a:srgbClr val="0E7490"/>
                </a:solidFill>
                <a:latin typeface="Arial"/>
              </a:rPr>
              <a:t>✔  Direct DOM Node Updates: </a:t>
            </a:r>
          </a:p>
          <a:p>
            <a:pPr>
              <a:spcBef>
                <a:spcPts val="200"/>
              </a:spcBef>
              <a:spcAft>
                <a:spcPts val="800"/>
              </a:spcAft>
            </a:pPr>
            <a:r>
              <a:rPr sz="1400">
                <a:solidFill>
                  <a:srgbClr val="334155"/>
                </a:solidFill>
                <a:latin typeface="Arial"/>
              </a:rPr>
              <a:t>Excludes high-frequency eye and landmark values from the React state cycle. Coordinates are updated directly via element IDs, preventing interface lag.</a:t>
            </a:r>
          </a:p>
          <a:p>
            <a:pPr>
              <a:spcBef>
                <a:spcPts val="1200"/>
              </a:spcBef>
            </a:pPr>
            <a:r>
              <a:rPr sz="1600" b="1">
                <a:solidFill>
                  <a:srgbClr val="0E7490"/>
                </a:solidFill>
                <a:latin typeface="Arial"/>
              </a:rPr>
              <a:t>✔  Throttled Sockets: </a:t>
            </a:r>
          </a:p>
          <a:p>
            <a:pPr>
              <a:spcBef>
                <a:spcPts val="200"/>
              </a:spcBef>
              <a:spcAft>
                <a:spcPts val="800"/>
              </a:spcAft>
            </a:pPr>
            <a:r>
              <a:rPr sz="1400">
                <a:solidFill>
                  <a:srgbClr val="334155"/>
                </a:solidFill>
                <a:latin typeface="Arial"/>
              </a:rPr>
              <a:t>Transfers webcam parameters to the backend at 150ms intervals, avoiding websocket buffers overloading.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094415" cy="640080"/>
          </a:xfrm>
          <a:prstGeom prst="rect">
            <a:avLst/>
          </a:prstGeom>
          <a:noFill/>
        </p:spPr>
        <p:txBody>
          <a:bodyPr wrap="square">
            <a:spAutoFit/>
          </a:bodyPr>
          <a:lstStyle/>
          <a:p>
            <a:r>
              <a:rPr sz="2800" b="1">
                <a:solidFill>
                  <a:srgbClr val="FFFFFF"/>
                </a:solidFill>
                <a:latin typeface="Arial"/>
              </a:rPr>
              <a:t>System Verification &amp; Test Metrics</a:t>
            </a:r>
          </a:p>
        </p:txBody>
      </p:sp>
      <p:sp>
        <p:nvSpPr>
          <p:cNvPr id="4" name="TextBox 3"/>
          <p:cNvSpPr txBox="1"/>
          <p:nvPr/>
        </p:nvSpPr>
        <p:spPr>
          <a:xfrm>
            <a:off x="731520" y="1463040"/>
            <a:ext cx="10698480" cy="4572000"/>
          </a:xfrm>
          <a:prstGeom prst="rect">
            <a:avLst/>
          </a:prstGeom>
          <a:noFill/>
        </p:spPr>
        <p:txBody>
          <a:bodyPr wrap="square">
            <a:spAutoFit/>
          </a:bodyPr>
          <a:lstStyle/>
          <a:p>
            <a:pPr>
              <a:spcAft>
                <a:spcPts val="1000"/>
              </a:spcAft>
            </a:pPr>
            <a:r>
              <a:rPr sz="1800" b="1">
                <a:solidFill>
                  <a:srgbClr val="0F172A"/>
                </a:solidFill>
                <a:latin typeface="Arial"/>
              </a:rPr>
              <a:t>System Verification Metrics:</a:t>
            </a:r>
          </a:p>
          <a:p>
            <a:r>
              <a:rPr sz="1400" b="1">
                <a:solidFill>
                  <a:srgbClr val="0E7490"/>
                </a:solidFill>
                <a:latin typeface="Arial"/>
              </a:rPr>
              <a:t>✔  Pytest Suite: </a:t>
            </a:r>
            <a:r>
              <a:rPr sz="1400">
                <a:solidFill>
                  <a:srgbClr val="334155"/>
                </a:solidFill>
                <a:latin typeface="Arial"/>
              </a:rPr>
              <a:t>10/10 tests pass, validating async queues, DB persistence, API, and sequence networks.
</a:t>
            </a:r>
            <a:r>
              <a:rPr sz="1400" b="1">
                <a:solidFill>
                  <a:srgbClr val="0E7490"/>
                </a:solidFill>
                <a:latin typeface="Arial"/>
              </a:rPr>
              <a:t>✔  Inference Latency: </a:t>
            </a:r>
            <a:r>
              <a:rPr sz="1400">
                <a:solidFill>
                  <a:srgbClr val="334155"/>
                </a:solidFill>
                <a:latin typeface="Arial"/>
              </a:rPr>
              <a:t>Inference is completed under 10ms via PyTorch cpu optimization layers, exceeding the 100ms budget.</a:t>
            </a:r>
          </a:p>
          <a:p>
            <a:pPr>
              <a:spcBef>
                <a:spcPts val="1500"/>
              </a:spcBef>
            </a:pPr>
            <a:r>
              <a:rPr sz="1400" b="1">
                <a:solidFill>
                  <a:srgbClr val="0E7490"/>
                </a:solidFill>
                <a:latin typeface="Arial"/>
              </a:rPr>
              <a:t>✔  Robust Fallback: </a:t>
            </a:r>
            <a:r>
              <a:rPr sz="1400">
                <a:solidFill>
                  <a:srgbClr val="334155"/>
                </a:solidFill>
                <a:latin typeface="Arial"/>
              </a:rPr>
              <a:t>If PyTorch model checkpoints are missing, the agents fallback automatically to rule-based simulations to prevent system crashes.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094415" cy="640080"/>
          </a:xfrm>
          <a:prstGeom prst="rect">
            <a:avLst/>
          </a:prstGeom>
          <a:noFill/>
        </p:spPr>
        <p:txBody>
          <a:bodyPr wrap="square">
            <a:spAutoFit/>
          </a:bodyPr>
          <a:lstStyle/>
          <a:p>
            <a:r>
              <a:rPr sz="2800" b="1">
                <a:solidFill>
                  <a:srgbClr val="FFFFFF"/>
                </a:solidFill>
                <a:latin typeface="Arial"/>
              </a:rPr>
              <a:t>Summary &amp; Future Vision</a:t>
            </a:r>
          </a:p>
        </p:txBody>
      </p:sp>
      <p:sp>
        <p:nvSpPr>
          <p:cNvPr id="4" name="TextBox 3"/>
          <p:cNvSpPr txBox="1"/>
          <p:nvPr/>
        </p:nvSpPr>
        <p:spPr>
          <a:xfrm>
            <a:off x="731520" y="1463040"/>
            <a:ext cx="10698480" cy="4572000"/>
          </a:xfrm>
          <a:prstGeom prst="rect">
            <a:avLst/>
          </a:prstGeom>
          <a:noFill/>
        </p:spPr>
        <p:txBody>
          <a:bodyPr wrap="square">
            <a:spAutoFit/>
          </a:bodyPr>
          <a:lstStyle/>
          <a:p/>
          <a:p>
            <a:pPr>
              <a:spcBef>
                <a:spcPts val="1000"/>
              </a:spcBef>
            </a:pPr>
            <a:r>
              <a:rPr sz="1500" b="1">
                <a:solidFill>
                  <a:srgbClr val="0E7490"/>
                </a:solidFill>
                <a:latin typeface="Arial"/>
              </a:rPr>
              <a:t>•  Mass Adoption: </a:t>
            </a:r>
            <a:r>
              <a:rPr sz="1400">
                <a:solidFill>
                  <a:srgbClr val="334155"/>
                </a:solidFill>
                <a:latin typeface="Arial"/>
              </a:rPr>
              <a:t>Low CPU footprint allows it to run on entry-level dashboards and standard smartphones.</a:t>
            </a:r>
          </a:p>
          <a:p>
            <a:pPr>
              <a:spcBef>
                <a:spcPts val="1000"/>
              </a:spcBef>
            </a:pPr>
            <a:r>
              <a:rPr sz="1500" b="1">
                <a:solidFill>
                  <a:srgbClr val="0E7490"/>
                </a:solidFill>
                <a:latin typeface="Arial"/>
              </a:rPr>
              <a:t>•  Cloud Deployments: </a:t>
            </a:r>
            <a:r>
              <a:rPr sz="1400">
                <a:solidFill>
                  <a:srgbClr val="334155"/>
                </a:solidFill>
                <a:latin typeface="Arial"/>
              </a:rPr>
              <a:t>Fully configured for Vercel deployment with dynamic WebSocket proxying.</a:t>
            </a:r>
          </a:p>
          <a:p>
            <a:pPr>
              <a:spcBef>
                <a:spcPts val="1000"/>
              </a:spcBef>
            </a:pPr>
            <a:r>
              <a:rPr sz="1500" b="1">
                <a:solidFill>
                  <a:srgbClr val="0E7490"/>
                </a:solidFill>
                <a:latin typeface="Arial"/>
              </a:rPr>
              <a:t>•  Future V2X Integration: </a:t>
            </a:r>
            <a:r>
              <a:rPr sz="1400">
                <a:solidFill>
                  <a:srgbClr val="334155"/>
                </a:solidFill>
                <a:latin typeface="Arial"/>
              </a:rPr>
              <a:t>Connects to surrounding cars over 5G to negotiate lane changes during emergency brake maneuvers.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