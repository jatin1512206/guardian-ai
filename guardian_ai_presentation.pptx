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601200" cy="1645920"/>
          </a:xfrm>
          <a:prstGeom prst="rect">
            <a:avLst/>
          </a:prstGeom>
          <a:noFill/>
        </p:spPr>
        <p:txBody>
          <a:bodyPr wrap="square">
            <a:spAutoFit/>
          </a:bodyPr>
          <a:lstStyle/>
          <a:p>
            <a:pPr algn="l"/>
            <a:r>
              <a:rPr sz="5600" b="1">
                <a:solidFill>
                  <a:srgbClr val="0F172A"/>
                </a:solidFill>
                <a:latin typeface="Arial"/>
              </a:rPr>
              <a:t>GUARDIAN-AI 🛡️</a:t>
            </a:r>
          </a:p>
          <a:p>
            <a:pPr algn="l">
              <a:spcBef>
                <a:spcPts val="1200"/>
              </a:spcBef>
            </a:pPr>
            <a:r>
              <a:rPr sz="2200" b="1">
                <a:solidFill>
                  <a:srgbClr val="0E7490"/>
                </a:solidFill>
                <a:latin typeface="Arial"/>
              </a:rPr>
              <a:t>Edge-Computer Vision &amp; Asynchronous Multi-Agent Safety Dashboard</a:t>
            </a:r>
          </a:p>
        </p:txBody>
      </p:sp>
      <p:sp>
        <p:nvSpPr>
          <p:cNvPr id="4" name="TextBox 3"/>
          <p:cNvSpPr txBox="1"/>
          <p:nvPr/>
        </p:nvSpPr>
        <p:spPr>
          <a:xfrm>
            <a:off x="1371600" y="4754880"/>
            <a:ext cx="9601200" cy="1097280"/>
          </a:xfrm>
          <a:prstGeom prst="rect">
            <a:avLst/>
          </a:prstGeom>
          <a:noFill/>
        </p:spPr>
        <p:txBody>
          <a:bodyPr wrap="square">
            <a:spAutoFit/>
          </a:bodyPr>
          <a:lstStyle/>
          <a:p>
            <a:r>
              <a:rPr sz="1400" b="1">
                <a:solidFill>
                  <a:srgbClr val="334155"/>
                </a:solidFill>
                <a:latin typeface="Arial"/>
              </a:rPr>
              <a:t>Submission Proposal: Hack2Skill Data &amp; AI Challenge
</a:t>
            </a:r>
            <a:r>
              <a:rPr sz="1300">
                <a:solidFill>
                  <a:srgbClr val="0E7490"/>
                </a:solidFill>
                <a:latin typeface="Arial"/>
              </a:rPr>
              <a:t>Developer &amp; Architect: Jatin Rajpoot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The Problem: Cognitive Distractions &amp; Road Hazards</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1000"/>
              </a:spcAft>
            </a:pPr>
            <a:r>
              <a:rPr sz="2000" b="1">
                <a:solidFill>
                  <a:srgbClr val="0E7490"/>
                </a:solidFill>
                <a:latin typeface="Arial"/>
              </a:rPr>
              <a:t>Critical Driver Safety Gaps:</a:t>
            </a:r>
          </a:p>
          <a:p>
            <a:pPr>
              <a:spcAft>
                <a:spcPts val="2000"/>
              </a:spcAft>
            </a:pPr>
            <a:r>
              <a:rPr sz="1500">
                <a:solidFill>
                  <a:srgbClr val="334155"/>
                </a:solidFill>
                <a:latin typeface="Arial"/>
              </a:rPr>
              <a:t>Over 1.3 million global vehicular deaths occur annually due to human error, driver fatigue, and phone distractions. Current dashboard recorders act as passive blackboxes, lacking the intelligence to predict accidents and alert drivers before impact.</a:t>
            </a:r>
          </a:p>
          <a:p>
            <a:pPr>
              <a:spcBef>
                <a:spcPts val="800"/>
              </a:spcBef>
            </a:pPr>
            <a:r>
              <a:rPr sz="1500" b="1">
                <a:solidFill>
                  <a:srgbClr val="0E7490"/>
                </a:solidFill>
                <a:latin typeface="Arial"/>
              </a:rPr>
              <a:t>•  Driver Fatigue &amp; Micro-sleeps: </a:t>
            </a:r>
            <a:r>
              <a:rPr sz="1400">
                <a:solidFill>
                  <a:srgbClr val="334155"/>
                </a:solidFill>
                <a:latin typeface="Arial"/>
              </a:rPr>
              <a:t>Split-second closures of eyes lead directly to road departures and high-speed crashes before drivers realize they are tired.</a:t>
            </a:r>
          </a:p>
          <a:p>
            <a:pPr>
              <a:spcBef>
                <a:spcPts val="800"/>
              </a:spcBef>
            </a:pPr>
            <a:r>
              <a:rPr sz="1500" b="1">
                <a:solidFill>
                  <a:srgbClr val="0E7490"/>
                </a:solidFill>
                <a:latin typeface="Arial"/>
              </a:rPr>
              <a:t>•  Visual Distractions (Smartphone Usage): </a:t>
            </a:r>
            <a:r>
              <a:rPr sz="1400">
                <a:solidFill>
                  <a:srgbClr val="334155"/>
                </a:solidFill>
                <a:latin typeface="Arial"/>
              </a:rPr>
              <a:t>Taking hands off the wheel or shifting eye gaze to screens dramatically increases stopping distance.</a:t>
            </a:r>
          </a:p>
          <a:p>
            <a:pPr>
              <a:spcBef>
                <a:spcPts val="800"/>
              </a:spcBef>
            </a:pPr>
            <a:r>
              <a:rPr sz="1500" b="1">
                <a:solidFill>
                  <a:srgbClr val="0E7490"/>
                </a:solidFill>
                <a:latin typeface="Arial"/>
              </a:rPr>
              <a:t>•  Passive Dashcam Monitoring: </a:t>
            </a:r>
            <a:r>
              <a:rPr sz="1400">
                <a:solidFill>
                  <a:srgbClr val="334155"/>
                </a:solidFill>
                <a:latin typeface="Arial"/>
              </a:rPr>
              <a:t>Traditional cameras lack edge computer vision to compute real-time risks and alert drivers actively.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What We Built: Closed-Loop AI Safety System</a:t>
            </a:r>
          </a:p>
        </p:txBody>
      </p:sp>
      <p:sp>
        <p:nvSpPr>
          <p:cNvPr id="4" name="Rectangle 3"/>
          <p:cNvSpPr/>
          <p:nvPr/>
        </p:nvSpPr>
        <p:spPr>
          <a:xfrm>
            <a:off x="548640"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377440" cy="3931920"/>
          </a:xfrm>
          <a:prstGeom prst="rect">
            <a:avLst/>
          </a:prstGeom>
          <a:noFill/>
        </p:spPr>
        <p:txBody>
          <a:bodyPr wrap="square">
            <a:spAutoFit/>
          </a:bodyPr>
          <a:lstStyle/>
          <a:p>
            <a:pPr>
              <a:spcAft>
                <a:spcPts val="1500"/>
              </a:spcAft>
            </a:pPr>
            <a:r>
              <a:rPr sz="1800" b="1">
                <a:solidFill>
                  <a:srgbClr val="0E7490"/>
                </a:solidFill>
                <a:latin typeface="Arial"/>
              </a:rPr>
              <a:t>🛡️ Browser AI CV</a:t>
            </a:r>
          </a:p>
          <a:p>
            <a:pPr>
              <a:spcBef>
                <a:spcPts val="1000"/>
              </a:spcBef>
            </a:pPr>
            <a:r>
              <a:rPr sz="1300">
                <a:solidFill>
                  <a:srgbClr val="334155"/>
                </a:solidFill>
                <a:latin typeface="Arial"/>
              </a:rPr>
              <a:t>MediaPipe Holistic tracks 3D face mesh targets, arm segments, and 21-joint finger skeletons in the browser.</a:t>
            </a:r>
          </a:p>
        </p:txBody>
      </p:sp>
      <p:sp>
        <p:nvSpPr>
          <p:cNvPr id="6" name="Rectangle 5"/>
          <p:cNvSpPr/>
          <p:nvPr/>
        </p:nvSpPr>
        <p:spPr>
          <a:xfrm>
            <a:off x="3337560"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828800"/>
            <a:ext cx="2377440" cy="3931920"/>
          </a:xfrm>
          <a:prstGeom prst="rect">
            <a:avLst/>
          </a:prstGeom>
          <a:noFill/>
        </p:spPr>
        <p:txBody>
          <a:bodyPr wrap="square">
            <a:spAutoFit/>
          </a:bodyPr>
          <a:lstStyle/>
          <a:p>
            <a:pPr>
              <a:spcAft>
                <a:spcPts val="1500"/>
              </a:spcAft>
            </a:pPr>
            <a:r>
              <a:rPr sz="1800" b="1">
                <a:solidFill>
                  <a:srgbClr val="0F172A"/>
                </a:solidFill>
                <a:latin typeface="Arial"/>
              </a:rPr>
              <a:t>🧠 Asynchronous Agents</a:t>
            </a:r>
          </a:p>
          <a:p>
            <a:pPr>
              <a:spcBef>
                <a:spcPts val="1000"/>
              </a:spcBef>
            </a:pPr>
            <a:r>
              <a:rPr sz="1300">
                <a:solidFill>
                  <a:srgbClr val="334155"/>
                </a:solidFill>
                <a:latin typeface="Arial"/>
              </a:rPr>
              <a:t>FastAPI agents (Driver, Vehicle, Predictor, Intervention) process telemetry events on an async bus.</a:t>
            </a:r>
          </a:p>
        </p:txBody>
      </p:sp>
      <p:sp>
        <p:nvSpPr>
          <p:cNvPr id="8" name="Rectangle 7"/>
          <p:cNvSpPr/>
          <p:nvPr/>
        </p:nvSpPr>
        <p:spPr>
          <a:xfrm>
            <a:off x="6126479"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39" y="1828800"/>
            <a:ext cx="2377440" cy="3931920"/>
          </a:xfrm>
          <a:prstGeom prst="rect">
            <a:avLst/>
          </a:prstGeom>
          <a:noFill/>
        </p:spPr>
        <p:txBody>
          <a:bodyPr wrap="square">
            <a:spAutoFit/>
          </a:bodyPr>
          <a:lstStyle/>
          <a:p>
            <a:pPr>
              <a:spcAft>
                <a:spcPts val="1500"/>
              </a:spcAft>
            </a:pPr>
            <a:r>
              <a:rPr sz="1800" b="1">
                <a:solidFill>
                  <a:srgbClr val="0E7490"/>
                </a:solidFill>
                <a:latin typeface="Arial"/>
              </a:rPr>
              <a:t>🔊 Synth Siren Alerts</a:t>
            </a:r>
          </a:p>
          <a:p>
            <a:pPr>
              <a:spcBef>
                <a:spcPts val="1000"/>
              </a:spcBef>
            </a:pPr>
            <a:r>
              <a:rPr sz="1300">
                <a:solidFill>
                  <a:srgbClr val="334155"/>
                </a:solidFill>
                <a:latin typeface="Arial"/>
              </a:rPr>
              <a:t>Web Audio oscillators produce urgent sirens and warning chimes during safety violations.</a:t>
            </a:r>
          </a:p>
        </p:txBody>
      </p:sp>
      <p:sp>
        <p:nvSpPr>
          <p:cNvPr id="10" name="Rectangle 9"/>
          <p:cNvSpPr/>
          <p:nvPr/>
        </p:nvSpPr>
        <p:spPr>
          <a:xfrm>
            <a:off x="8915399"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59" y="1828800"/>
            <a:ext cx="2377440" cy="3931920"/>
          </a:xfrm>
          <a:prstGeom prst="rect">
            <a:avLst/>
          </a:prstGeom>
          <a:noFill/>
        </p:spPr>
        <p:txBody>
          <a:bodyPr wrap="square">
            <a:spAutoFit/>
          </a:bodyPr>
          <a:lstStyle/>
          <a:p>
            <a:pPr>
              <a:spcAft>
                <a:spcPts val="1500"/>
              </a:spcAft>
            </a:pPr>
            <a:r>
              <a:rPr sz="1800" b="1">
                <a:solidFill>
                  <a:srgbClr val="0F172A"/>
                </a:solidFill>
                <a:latin typeface="Arial"/>
              </a:rPr>
              <a:t>🎛️ Interactive Controls</a:t>
            </a:r>
          </a:p>
          <a:p>
            <a:pPr>
              <a:spcBef>
                <a:spcPts val="1000"/>
              </a:spcBef>
            </a:pPr>
            <a:r>
              <a:rPr sz="1300">
                <a:solidFill>
                  <a:srgbClr val="334155"/>
                </a:solidFill>
                <a:latin typeface="Arial"/>
              </a:rPr>
              <a:t>Speed, steering, and lane sliders allow manual overrides to instantly test accident risks.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Why We Built It That Way: Design Rationale</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200"/>
              </a:spcBef>
            </a:pPr>
            <a:r>
              <a:rPr sz="1600" b="1">
                <a:solidFill>
                  <a:srgbClr val="0E7490"/>
                </a:solidFill>
                <a:latin typeface="Arial"/>
              </a:rPr>
              <a:t>✔  Edge-CV + Cloud Fusion Model: </a:t>
            </a:r>
          </a:p>
          <a:p>
            <a:pPr>
              <a:spcBef>
                <a:spcPts val="200"/>
              </a:spcBef>
              <a:spcAft>
                <a:spcPts val="800"/>
              </a:spcAft>
            </a:pPr>
            <a:r>
              <a:rPr sz="1400">
                <a:solidFill>
                  <a:srgbClr val="334155"/>
                </a:solidFill>
                <a:latin typeface="Arial"/>
              </a:rPr>
              <a:t>MediaPipe Holistic runs client-side in the browser. This eliminates expensive cloud GPU server hosting costs and guarantees zero latency overhead for frame capture processing (&lt;30ms).</a:t>
            </a:r>
          </a:p>
          <a:p>
            <a:pPr>
              <a:spcBef>
                <a:spcPts val="1200"/>
              </a:spcBef>
            </a:pPr>
            <a:r>
              <a:rPr sz="1600" b="1">
                <a:solidFill>
                  <a:srgbClr val="0E7490"/>
                </a:solidFill>
                <a:latin typeface="Arial"/>
              </a:rPr>
              <a:t>✔  Asynchronous Event Bus Decoupling: </a:t>
            </a:r>
          </a:p>
          <a:p>
            <a:pPr>
              <a:spcBef>
                <a:spcPts val="200"/>
              </a:spcBef>
              <a:spcAft>
                <a:spcPts val="800"/>
              </a:spcAft>
            </a:pPr>
            <a:r>
              <a:rPr sz="1400">
                <a:solidFill>
                  <a:srgbClr val="334155"/>
                </a:solidFill>
                <a:latin typeface="Arial"/>
              </a:rPr>
              <a:t>Decouples telemetry loops (vehicle updates at 10Hz, camera landmarks at 30Hz). If the camera is toggled off, backend agents fallback to physics-simulations instantly.</a:t>
            </a:r>
          </a:p>
          <a:p>
            <a:pPr>
              <a:spcBef>
                <a:spcPts val="1200"/>
              </a:spcBef>
            </a:pPr>
            <a:r>
              <a:rPr sz="1600" b="1">
                <a:solidFill>
                  <a:srgbClr val="0E7490"/>
                </a:solidFill>
                <a:latin typeface="Arial"/>
              </a:rPr>
              <a:t>✔  Direct DOM Telemetry Updates: </a:t>
            </a:r>
          </a:p>
          <a:p>
            <a:pPr>
              <a:spcBef>
                <a:spcPts val="200"/>
              </a:spcBef>
              <a:spcAft>
                <a:spcPts val="800"/>
              </a:spcAft>
            </a:pPr>
            <a:r>
              <a:rPr sz="1400">
                <a:solidFill>
                  <a:srgbClr val="334155"/>
                </a:solidFill>
                <a:latin typeface="Arial"/>
              </a:rPr>
              <a:t>Rendering 30 FPS face mesh coords inside React state freezes the virtual DOM. We update HUD metrics directly in the DOM by ID, saving significant CPU cycles.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How It Works: Technical Data Flow</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000"/>
              </a:spcBef>
            </a:pPr>
            <a:r>
              <a:rPr sz="1500" b="1">
                <a:solidFill>
                  <a:srgbClr val="0E7490"/>
                </a:solidFill>
                <a:latin typeface="Arial"/>
              </a:rPr>
              <a:t>•  1. Sensation: </a:t>
            </a:r>
            <a:r>
              <a:rPr sz="1400">
                <a:solidFill>
                  <a:srgbClr val="334155"/>
                </a:solidFill>
                <a:latin typeface="Arial"/>
              </a:rPr>
              <a:t>Webcam captures raw frame video. MediaPipe tracks Eye Aspect Ratio (EAR), Mouth aspect (MAR), and Hand-to-Cheek distance vectors.</a:t>
            </a:r>
          </a:p>
          <a:p>
            <a:pPr>
              <a:spcBef>
                <a:spcPts val="1000"/>
              </a:spcBef>
            </a:pPr>
            <a:r>
              <a:rPr sz="1500" b="1">
                <a:solidFill>
                  <a:srgbClr val="0E7490"/>
                </a:solidFill>
                <a:latin typeface="Arial"/>
              </a:rPr>
              <a:t>•  2. Transmission: </a:t>
            </a:r>
            <a:r>
              <a:rPr sz="1400">
                <a:solidFill>
                  <a:srgbClr val="334155"/>
                </a:solidFill>
                <a:latin typeface="Arial"/>
              </a:rPr>
              <a:t>WebSockets stream coordinates to FastAPI's async event bus, throttled to 150ms to prevent server buffer overflows.</a:t>
            </a:r>
          </a:p>
          <a:p>
            <a:pPr>
              <a:spcBef>
                <a:spcPts val="1000"/>
              </a:spcBef>
            </a:pPr>
            <a:r>
              <a:rPr sz="1500" b="1">
                <a:solidFill>
                  <a:srgbClr val="0E7490"/>
                </a:solidFill>
                <a:latin typeface="Arial"/>
              </a:rPr>
              <a:t>•  3. Sequence Modeling: </a:t>
            </a:r>
            <a:r>
              <a:rPr sz="1400">
                <a:solidFill>
                  <a:srgbClr val="334155"/>
                </a:solidFill>
                <a:latin typeface="Arial"/>
              </a:rPr>
              <a:t>Vehicle telemetry sequence (50, 10) passes through a BiGRU network; driver parameters are fused through a Transformer cross-attention encoder.</a:t>
            </a:r>
          </a:p>
          <a:p>
            <a:pPr>
              <a:spcBef>
                <a:spcPts val="1000"/>
              </a:spcBef>
            </a:pPr>
            <a:r>
              <a:rPr sz="1500" b="1">
                <a:solidFill>
                  <a:srgbClr val="0E7490"/>
                </a:solidFill>
                <a:latin typeface="Arial"/>
              </a:rPr>
              <a:t>•  4. Forecast: </a:t>
            </a:r>
            <a:r>
              <a:rPr sz="1400">
                <a:solidFill>
                  <a:srgbClr val="334155"/>
                </a:solidFill>
                <a:latin typeface="Arial"/>
              </a:rPr>
              <a:t>LSTM forecaster outputs collision probability and type (e.g. rear-end) 3-5 seconds ahead.</a:t>
            </a:r>
          </a:p>
          <a:p>
            <a:pPr>
              <a:spcBef>
                <a:spcPts val="1000"/>
              </a:spcBef>
            </a:pPr>
            <a:r>
              <a:rPr sz="1500" b="1">
                <a:solidFill>
                  <a:srgbClr val="0E7490"/>
                </a:solidFill>
                <a:latin typeface="Arial"/>
              </a:rPr>
              <a:t>•  5. Actuation: </a:t>
            </a:r>
            <a:r>
              <a:rPr sz="1400">
                <a:solidFill>
                  <a:srgbClr val="334155"/>
                </a:solidFill>
                <a:latin typeface="Arial"/>
              </a:rPr>
              <a:t>Intervention Agent triggers wailing sirens in the browser and logs safety event audits into SQLite WAL database.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Trained Models &amp; System Verification</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800"/>
              </a:spcAft>
            </a:pPr>
            <a:r>
              <a:rPr sz="1600" b="1">
                <a:solidFill>
                  <a:srgbClr val="0F172A"/>
                </a:solidFill>
                <a:latin typeface="Arial"/>
              </a:rPr>
              <a:t>1. Active PyTorch Neural Network Weights:</a:t>
            </a:r>
          </a:p>
          <a:p>
            <a:pPr>
              <a:spcAft>
                <a:spcPts val="200"/>
              </a:spcAft>
            </a:pPr>
            <a:r>
              <a:rPr sz="1400">
                <a:solidFill>
                  <a:srgbClr val="334155"/>
                </a:solidFill>
                <a:latin typeface="Arial"/>
              </a:rPr>
              <a:t>  - Driver Monitor (MobileNetV2 CNN Classifier)  --&gt;  </a:t>
            </a:r>
            <a:r>
              <a:rPr sz="1400" b="1">
                <a:solidFill>
                  <a:srgbClr val="0E7490"/>
                </a:solidFill>
                <a:latin typeface="Arial"/>
              </a:rPr>
              <a:t>driver_monitor.pt</a:t>
            </a:r>
          </a:p>
          <a:p>
            <a:pPr>
              <a:spcAft>
                <a:spcPts val="200"/>
              </a:spcAft>
            </a:pPr>
            <a:r>
              <a:rPr sz="1400">
                <a:solidFill>
                  <a:srgbClr val="334155"/>
                </a:solidFill>
                <a:latin typeface="Arial"/>
              </a:rPr>
              <a:t>  - Vehicle Dynamics (Bi-GRU with Attention)  --&gt;  </a:t>
            </a:r>
            <a:r>
              <a:rPr sz="1400" b="1">
                <a:solidFill>
                  <a:srgbClr val="0E7490"/>
                </a:solidFill>
                <a:latin typeface="Arial"/>
              </a:rPr>
              <a:t>vehicle_behavior.pt</a:t>
            </a:r>
          </a:p>
          <a:p>
            <a:pPr>
              <a:spcAft>
                <a:spcPts val="200"/>
              </a:spcAft>
            </a:pPr>
            <a:r>
              <a:rPr sz="1400">
                <a:solidFill>
                  <a:srgbClr val="334155"/>
                </a:solidFill>
                <a:latin typeface="Arial"/>
              </a:rPr>
              <a:t>  - Sensor Fusion (Transformer Cross-Attention)  --&gt;  </a:t>
            </a:r>
            <a:r>
              <a:rPr sz="1400" b="1">
                <a:solidFill>
                  <a:srgbClr val="0E7490"/>
                </a:solidFill>
                <a:latin typeface="Arial"/>
              </a:rPr>
              <a:t>sensor_fusion.pt</a:t>
            </a:r>
          </a:p>
          <a:p>
            <a:pPr>
              <a:spcAft>
                <a:spcPts val="200"/>
              </a:spcAft>
            </a:pPr>
            <a:r>
              <a:rPr sz="1400">
                <a:solidFill>
                  <a:srgbClr val="334155"/>
                </a:solidFill>
                <a:latin typeface="Arial"/>
              </a:rPr>
              <a:t>  - Accident Predictor (LSTM Sequence Forecaster)  --&gt;  </a:t>
            </a:r>
            <a:r>
              <a:rPr sz="1400" b="1">
                <a:solidFill>
                  <a:srgbClr val="0E7490"/>
                </a:solidFill>
                <a:latin typeface="Arial"/>
              </a:rPr>
              <a:t>accident_predictor.pt</a:t>
            </a:r>
          </a:p>
          <a:p>
            <a:pPr>
              <a:spcBef>
                <a:spcPts val="1800"/>
              </a:spcBef>
              <a:spcAft>
                <a:spcPts val="600"/>
              </a:spcAft>
            </a:pPr>
            <a:r>
              <a:rPr sz="1600" b="1">
                <a:solidFill>
                  <a:srgbClr val="0F172A"/>
                </a:solidFill>
                <a:latin typeface="Arial"/>
              </a:rPr>
              <a:t>2. System Verification Metrics:</a:t>
            </a:r>
          </a:p>
          <a:p>
            <a:r>
              <a:rPr sz="1400" b="1">
                <a:solidFill>
                  <a:srgbClr val="0E7490"/>
                </a:solidFill>
                <a:latin typeface="Arial"/>
              </a:rPr>
              <a:t>✔  Pytest Suite: </a:t>
            </a:r>
            <a:r>
              <a:rPr sz="1400">
                <a:solidFill>
                  <a:srgbClr val="334155"/>
                </a:solidFill>
                <a:latin typeface="Arial"/>
              </a:rPr>
              <a:t>10/10 tests pass, validating async queues, DB persistence, API, and sequence networks.
</a:t>
            </a:r>
            <a:r>
              <a:rPr sz="1400" b="1">
                <a:solidFill>
                  <a:srgbClr val="0E7490"/>
                </a:solidFill>
                <a:latin typeface="Arial"/>
              </a:rPr>
              <a:t>✔  Inference Latency: </a:t>
            </a:r>
            <a:r>
              <a:rPr sz="1400">
                <a:solidFill>
                  <a:srgbClr val="334155"/>
                </a:solidFill>
                <a:latin typeface="Arial"/>
              </a:rPr>
              <a:t>Inference is completed under 10ms via PyTorch cpu optimization layers, exceeding the 100ms budget.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